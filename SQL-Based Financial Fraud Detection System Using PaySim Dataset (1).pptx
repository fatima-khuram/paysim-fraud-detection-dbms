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60" r:id="rId5"/>
    <p:sldId id="258" r:id="rId6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A4A"/>
    <a:srgbClr val="474F5F"/>
    <a:srgbClr val="EEEEEE"/>
    <a:srgbClr val="F5F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16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2176162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000" b="1" dirty="0">
                <a:solidFill>
                  <a:srgbClr val="1B2A4A"/>
                </a:solidFill>
                <a:latin typeface="Times New Roman"/>
                <a:ea typeface="Times New Roman" pitchFamily="34" charset="-122"/>
                <a:cs typeface="Times New Roman"/>
              </a:rPr>
              <a:t>SQL-Based Financial Transaction Analysis and Fraud Detection Using </a:t>
            </a:r>
            <a:r>
              <a:rPr lang="en-US" sz="5000" b="1" dirty="0" err="1">
                <a:solidFill>
                  <a:srgbClr val="1B2A4A"/>
                </a:solidFill>
                <a:latin typeface="Times New Roman"/>
                <a:ea typeface="Times New Roman" pitchFamily="34" charset="-122"/>
                <a:cs typeface="Times New Roman"/>
              </a:rPr>
              <a:t>PaySim</a:t>
            </a:r>
            <a:r>
              <a:rPr lang="en-US" sz="5000" b="1" dirty="0">
                <a:solidFill>
                  <a:srgbClr val="1B2A4A"/>
                </a:solidFill>
                <a:latin typeface="Times New Roman"/>
                <a:ea typeface="Times New Roman" pitchFamily="34" charset="-122"/>
                <a:cs typeface="Times New Roman"/>
              </a:rPr>
              <a:t> Dataset</a:t>
            </a:r>
            <a:endParaRPr lang="en-US" sz="5000" dirty="0">
              <a:solidFill>
                <a:srgbClr val="1B2A4A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223000" y="4699000"/>
            <a:ext cx="3810000" cy="0"/>
          </a:xfrm>
          <a:prstGeom prst="straightConnector1">
            <a:avLst/>
          </a:prstGeom>
          <a:noFill/>
          <a:ln w="25400">
            <a:solidFill>
              <a:srgbClr val="C5A55A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778000" y="3913315"/>
            <a:ext cx="12700000" cy="281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2400" dirty="0">
              <a:solidFill>
                <a:srgbClr val="1B2A4A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rgbClr val="1B2A4A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rgbClr val="1B2A4A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rgbClr val="1B2A4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Submitted by:</a:t>
            </a:r>
            <a:endParaRPr lang="en-US" sz="2400" dirty="0">
              <a:solidFill>
                <a:srgbClr val="1B2A4A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rgbClr val="1B2A4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Fatima Khuram (24L-5567)</a:t>
            </a:r>
            <a:endParaRPr lang="en-US" sz="2400" dirty="0">
              <a:solidFill>
                <a:srgbClr val="1B2A4A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rgbClr val="1B2A4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Sehar Taimoor (24L-5584)</a:t>
            </a:r>
            <a:endParaRPr lang="en-US" sz="2400" dirty="0">
              <a:solidFill>
                <a:srgbClr val="1B2A4A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rgbClr val="1B2A4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Areesha Talha (24L-5504)</a:t>
            </a:r>
            <a:endParaRPr lang="en-US" sz="2400" dirty="0">
              <a:solidFill>
                <a:srgbClr val="1B2A4A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rgbClr val="1B2A4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Somal Fatima (24L-5715)</a:t>
            </a:r>
            <a:endParaRPr lang="en-US" sz="2400" dirty="0">
              <a:solidFill>
                <a:srgbClr val="1B2A4A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rgbClr val="1B2A4A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Anfaal Batool (24L-5018)</a:t>
            </a:r>
            <a:endParaRPr lang="en-US" sz="2400" dirty="0">
              <a:solidFill>
                <a:srgbClr val="1B2A4A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ct val="140000"/>
              </a:lnSpc>
            </a:pPr>
            <a:endParaRPr lang="en-US" sz="2400" dirty="0">
              <a:solidFill>
                <a:srgbClr val="1B2A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47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000" b="1" dirty="0">
                <a:solidFill>
                  <a:srgbClr val="1B2A4A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PaySim Dataset Overview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1587500"/>
            <a:ext cx="711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What is PaySim?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21590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Simulated mobile financial transaction dataset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Designed to mimic real-world banking systems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632759"/>
            <a:ext cx="711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Why it is used?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5253686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Fraud detection and financial risk analysis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Used in fintech research and banking analytics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Helps simulate real banking transaction behavior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82000" y="1587500"/>
            <a:ext cx="711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Key Features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82000" y="21590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Sender and receiver accounts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Transaction amount and balance changes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Fraud and flagged fraud indicators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Transaction types (payment, transfer, cash out, etc.)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25400">
            <a:solidFill>
              <a:srgbClr val="1B2A4A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16" y="144889"/>
            <a:ext cx="14955520" cy="585216"/>
          </a:xfrm>
          <a:prstGeom prst="rect">
            <a:avLst/>
          </a:prstGeom>
          <a:solidFill>
            <a:srgbClr val="F5F3E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Schema (3NF)</a:t>
            </a:r>
            <a:endParaRPr lang="en-US" sz="5000" dirty="0">
              <a:solidFill>
                <a:srgbClr val="1B2A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2896" y="-4034"/>
            <a:ext cx="149555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364111" y="1074100"/>
            <a:ext cx="4554691" cy="5201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Customers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655600"/>
              </p:ext>
            </p:extLst>
          </p:nvPr>
        </p:nvGraphicFramePr>
        <p:xfrm>
          <a:off x="11364113" y="1594292"/>
          <a:ext cx="4554690" cy="1332992"/>
        </p:xfrm>
        <a:graphic>
          <a:graphicData uri="http://schemas.openxmlformats.org/drawingml/2006/table">
            <a:tbl>
              <a:tblPr/>
              <a:tblGrid>
                <a:gridCol w="276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i="0" dirty="0" err="1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CustomerID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PK · INT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CustomerName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VARCHAR · UNIQUE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1403273" y="3819550"/>
            <a:ext cx="4552896" cy="5201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03273" y="3819550"/>
            <a:ext cx="4552896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TransactionTypes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60617"/>
              </p:ext>
            </p:extLst>
          </p:nvPr>
        </p:nvGraphicFramePr>
        <p:xfrm>
          <a:off x="11403273" y="4339742"/>
          <a:ext cx="4552896" cy="1332992"/>
        </p:xfrm>
        <a:graphic>
          <a:graphicData uri="http://schemas.openxmlformats.org/drawingml/2006/table">
            <a:tbl>
              <a:tblPr/>
              <a:tblGrid>
                <a:gridCol w="29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 TypeID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PK · INT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TypeName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VARCHAR · UNIQUE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06400" y="929604"/>
            <a:ext cx="10563388" cy="5201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06400" y="929604"/>
            <a:ext cx="10563388" cy="5201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Transactions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933834"/>
              </p:ext>
            </p:extLst>
          </p:nvPr>
        </p:nvGraphicFramePr>
        <p:xfrm>
          <a:off x="406404" y="1449796"/>
          <a:ext cx="10563389" cy="487680"/>
        </p:xfrm>
        <a:graphic>
          <a:graphicData uri="http://schemas.openxmlformats.org/drawingml/2006/table">
            <a:tbl>
              <a:tblPr/>
              <a:tblGrid>
                <a:gridCol w="254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8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Column</a:t>
                      </a:r>
                      <a:endParaRPr lang="en-US" sz="2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Type</a:t>
                      </a:r>
                      <a:endParaRPr lang="en-US" sz="2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Tag</a:t>
                      </a:r>
                      <a:endParaRPr lang="en-US" sz="2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465712"/>
              </p:ext>
            </p:extLst>
          </p:nvPr>
        </p:nvGraphicFramePr>
        <p:xfrm>
          <a:off x="406401" y="1935429"/>
          <a:ext cx="10563390" cy="6177280"/>
        </p:xfrm>
        <a:graphic>
          <a:graphicData uri="http://schemas.openxmlformats.org/drawingml/2006/table">
            <a:tbl>
              <a:tblPr/>
              <a:tblGrid>
                <a:gridCol w="2531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8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i="0" dirty="0" err="1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TransactionID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PK · INT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Primary key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Step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Transaction time step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TypeID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 · FK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TransactionTypes.TypeID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FK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OrigCustomerID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 · FK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Customers.CustomerID (Sender)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FK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DestCustomerID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 · FK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Customers.CustomerID (Receiver)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FK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Amount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DECIMAL(18,2)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Transaction amount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OldBalanceOrg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DECIMAL(18,2)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Sender balance before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NewBalanceOrig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DECIMAL(18,2)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Sender balance after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OldBalanceDest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DECIMAL(18,2)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Receiver balance before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NewBalanceDest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DECIMAL(18,2)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Receiver balance after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IsFraud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TINYINT(1)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Fraud label (0 / 1)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FLAG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IsFlaggedFraud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TINYINT(1)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System fraud flag (0 / 1)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i="0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FLAG</a:t>
                      </a:r>
                      <a:endParaRPr lang="en-US" sz="2100" i="0" dirty="0">
                        <a:solidFill>
                          <a:srgbClr val="1B2A4A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62560" marR="162560" marT="81280" marB="8128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650240" y="8350787"/>
            <a:ext cx="15118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Relationships: </a:t>
            </a:r>
            <a:r>
              <a:rPr lang="en-US" sz="2133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Customer 1→N Transactions (Sender)  ·  Customer 1→N Transactions (Receiver)  ·  TransactionType 1→N Transactions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47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000" b="1" dirty="0">
                <a:solidFill>
                  <a:srgbClr val="1B2A4A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ER Diagram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25400">
            <a:solidFill>
              <a:srgbClr val="1B2A4A"/>
            </a:solidFill>
            <a:prstDash val="solid"/>
            <a:headEnd type="none"/>
            <a:tailEnd type="none"/>
          </a:ln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AD85C11-1F95-C0F1-AEE9-A5ED6D10F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244" y="383060"/>
            <a:ext cx="8005831" cy="778145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4732000" cy="762000"/>
          </a:xfrm>
          <a:prstGeom prst="rect">
            <a:avLst/>
          </a:prstGeom>
          <a:solidFill>
            <a:srgbClr val="F5F3EF"/>
          </a:solidFill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000" b="1" dirty="0">
                <a:solidFill>
                  <a:srgbClr val="1B2A4A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Relevance to FinTech &amp; DBMS &amp; Business Value</a:t>
            </a:r>
            <a:endParaRPr lang="en-US" sz="5000" b="1" dirty="0">
              <a:solidFill>
                <a:srgbClr val="1B2A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9396" y="1333500"/>
            <a:ext cx="7216741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Used in digital banking fraud detection </a:t>
            </a:r>
            <a:r>
              <a:rPr lang="en-US" sz="3000" dirty="0">
                <a:solidFill>
                  <a:srgbClr val="1B2A4A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systems</a:t>
            </a:r>
            <a:endParaRPr lang="en-US" sz="3000" dirty="0">
              <a:solidFill>
                <a:srgbClr val="1B2A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Helps in real-time transaction monitoring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Supports risk analysis and compliance reporting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Applied in banking decision-making systems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Builds foundation for financial analytics and AI fraud models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25400">
            <a:solidFill>
              <a:srgbClr val="1B2A4A"/>
            </a:solidFill>
            <a:prstDash val="solid"/>
            <a:headEnd type="none"/>
            <a:tailEnd type="none"/>
          </a:ln>
        </p:spPr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A68CCFDB-C327-C4C3-EB73-176202C6BF54}"/>
              </a:ext>
            </a:extLst>
          </p:cNvPr>
          <p:cNvSpPr/>
          <p:nvPr/>
        </p:nvSpPr>
        <p:spPr>
          <a:xfrm>
            <a:off x="9389950" y="557003"/>
            <a:ext cx="147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endParaRPr lang="en-US" sz="5000" b="1" dirty="0">
              <a:solidFill>
                <a:srgbClr val="1B2A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1415363-6736-07CA-4BEB-670270FAE882}"/>
              </a:ext>
            </a:extLst>
          </p:cNvPr>
          <p:cNvSpPr/>
          <p:nvPr/>
        </p:nvSpPr>
        <p:spPr>
          <a:xfrm>
            <a:off x="7971255" y="1347997"/>
            <a:ext cx="7216741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Helps detect fraud patterns in banking transactions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Supports real-time financial monitoring systems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Improves risk management and compliance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Enables data-driven banking decisions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indent="-3492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3000" dirty="0">
                <a:solidFill>
                  <a:srgbClr val="1E1E1E"/>
                </a:solidFill>
                <a:latin typeface="Times New Roman" panose="02020603050405020304" pitchFamily="18" charset="0"/>
                <a:ea typeface="SortsMillGoudy" pitchFamily="34" charset="-122"/>
                <a:cs typeface="Times New Roman" panose="02020603050405020304" pitchFamily="18" charset="0"/>
              </a:rPr>
              <a:t>Useful for fintech analytics and auditing systems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347</Words>
  <Application>Microsoft Office PowerPoint</Application>
  <PresentationFormat>Custom</PresentationFormat>
  <Paragraphs>98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Times New Roman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SQL-Based Financial Fraud Detection System Using PaySim Dataset</dc:title>
  <dc:subject>SQL-Based Financial Fraud Detection System Using PaySim Dataset</dc:subject>
  <dc:creator>Kimi</dc:creator>
  <cp:lastModifiedBy>Fatima Khuram</cp:lastModifiedBy>
  <cp:revision>2</cp:revision>
  <dcterms:created xsi:type="dcterms:W3CDTF">2026-05-11T16:33:39Z</dcterms:created>
  <dcterms:modified xsi:type="dcterms:W3CDTF">2026-05-11T17:31:06Z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{"Label":"SQL-Based Financial Fraud Detection System Using PaySim Dataset","ContentProducer":"001191110108MACG2KBH8F10000","ProduceID":"19e17de9-34d2-8c08-8000-00006d1f538d","ReservedCode1":"","ContentPropagator":"001191110108MACG2KBH8F20000","PropagateID":"19e17de9-34d2-8c08-8000-00006d1f538d","ReservedCode2":""}</vt:lpwstr>
  </property>
</Properties>
</file>